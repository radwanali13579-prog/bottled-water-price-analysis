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46920" y="1143000"/>
            <a:ext cx="594360" cy="594360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61320" y="1874519"/>
            <a:ext cx="384048" cy="384048"/>
          </a:xfrm>
          <a:prstGeom prst="ellipse">
            <a:avLst/>
          </a:prstGeom>
          <a:solidFill>
            <a:srgbClr val="DA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2423160"/>
            <a:ext cx="292608" cy="292608"/>
          </a:xfrm>
          <a:prstGeom prst="ellipse">
            <a:avLst/>
          </a:prstGeom>
          <a:solidFill>
            <a:srgbClr val="2F7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87000" y="2834640"/>
            <a:ext cx="685800" cy="685800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46920" y="3886200"/>
            <a:ext cx="384048" cy="384048"/>
          </a:xfrm>
          <a:prstGeom prst="ellipse">
            <a:avLst/>
          </a:prstGeom>
          <a:solidFill>
            <a:srgbClr val="DA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72237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409BA4"/>
                </a:solidFill>
                <a:latin typeface="Aptos"/>
              </a:rPr>
              <a:t>RESEARCH TOPIC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7406640" cy="1463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600" b="1">
                <a:solidFill>
                  <a:srgbClr val="18304D"/>
                </a:solidFill>
                <a:latin typeface="Aptos"/>
              </a:rPr>
              <a:t>Prices of Bottled Water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63240"/>
            <a:ext cx="7223760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0">
                <a:solidFill>
                  <a:srgbClr val="27333D"/>
                </a:solidFill>
                <a:latin typeface="Aptos"/>
              </a:rPr>
              <a:t>A simple comparison of 1.5-litre bottled water prices listed online in Malaysia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4343400"/>
            <a:ext cx="1188720" cy="64008"/>
          </a:xfrm>
          <a:prstGeom prst="rect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4709160"/>
            <a:ext cx="7223760" cy="5293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lang="en-US" sz="1600" b="0" dirty="0">
                <a:solidFill>
                  <a:srgbClr val="64737D"/>
                </a:solidFill>
                <a:latin typeface="Aptos"/>
              </a:rPr>
              <a:t>REDHWAN ALI HASAN ABDULLAH</a:t>
            </a:r>
          </a:p>
          <a:p>
            <a:pPr algn="l"/>
            <a:r>
              <a:rPr lang="en-US" sz="1600" dirty="0">
                <a:solidFill>
                  <a:srgbClr val="64737D"/>
                </a:solidFill>
                <a:latin typeface="Aptos"/>
              </a:rPr>
              <a:t>241090104-5</a:t>
            </a:r>
            <a:endParaRPr sz="1600" b="0" dirty="0">
              <a:solidFill>
                <a:srgbClr val="64737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8952" y="5897880"/>
            <a:ext cx="72237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18304D"/>
                </a:solidFill>
                <a:latin typeface="Aptos"/>
              </a:rPr>
              <a:t>Engineering Statistics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0">
                <a:solidFill>
                  <a:srgbClr val="DAEBF4"/>
                </a:solidFill>
                <a:latin typeface="Aptos"/>
              </a:rP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700" b="1">
                <a:solidFill>
                  <a:srgbClr val="18304D"/>
                </a:solidFill>
                <a:latin typeface="Aptos"/>
              </a:rPr>
              <a:t>1. Background and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0">
                <a:solidFill>
                  <a:srgbClr val="64737D"/>
                </a:solidFill>
                <a:latin typeface="Aptos"/>
              </a:rPr>
              <a:t>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0">
                <a:solidFill>
                  <a:srgbClr val="27333D"/>
                </a:solidFill>
                <a:latin typeface="Aptos"/>
              </a:rPr>
              <a:t>Bottled water is sold under different brands and may have different prices.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3063240" cy="2057400"/>
          </a:xfrm>
          <a:prstGeom prst="roundRect">
            <a:avLst/>
          </a:prstGeom>
          <a:solidFill>
            <a:srgbClr val="EFF6F9"/>
          </a:solidFill>
          <a:ln>
            <a:solidFill>
              <a:srgbClr val="DA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6060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F71A6"/>
                </a:solidFill>
                <a:latin typeface="Aptos"/>
              </a:rPr>
              <a:t>Simple 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60604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7333D"/>
                </a:solidFill>
                <a:latin typeface="Aptos"/>
              </a:rPr>
              <a:t>Prices can be collected from online product listings.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423160"/>
            <a:ext cx="3063240" cy="2057400"/>
          </a:xfrm>
          <a:prstGeom prst="roundRect">
            <a:avLst/>
          </a:prstGeom>
          <a:solidFill>
            <a:srgbClr val="EFF6F9"/>
          </a:solidFill>
          <a:ln>
            <a:solidFill>
              <a:srgbClr val="DA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697480"/>
            <a:ext cx="26060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409BA4"/>
                </a:solidFill>
                <a:latin typeface="Aptos"/>
              </a:rPr>
              <a:t>Fair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46120"/>
            <a:ext cx="260604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7333D"/>
                </a:solidFill>
                <a:latin typeface="Aptos"/>
              </a:rPr>
              <a:t>Focus on bottles with the same volume: 1.5 litres.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423160"/>
            <a:ext cx="3063240" cy="2057400"/>
          </a:xfrm>
          <a:prstGeom prst="roundRect">
            <a:avLst/>
          </a:prstGeom>
          <a:solidFill>
            <a:srgbClr val="EFF6F9"/>
          </a:solidFill>
          <a:ln>
            <a:solidFill>
              <a:srgbClr val="DA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697480"/>
            <a:ext cx="26060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18304D"/>
                </a:solidFill>
                <a:latin typeface="Aptos"/>
              </a:rPr>
              <a:t>Useful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246120"/>
            <a:ext cx="260604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7333D"/>
                </a:solidFill>
                <a:latin typeface="Aptos"/>
              </a:rPr>
              <a:t>Prices can be organized and compared using basic statistics.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1078992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64737D"/>
                </a:solidFill>
                <a:latin typeface="Aptos"/>
              </a:rPr>
              <a:t>The study will compare prices, not water quality or health effects.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700" b="1">
                <a:solidFill>
                  <a:srgbClr val="18304D"/>
                </a:solidFill>
                <a:latin typeface="Aptos"/>
              </a:rPr>
              <a:t>2. Research Question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0">
                <a:solidFill>
                  <a:srgbClr val="64737D"/>
                </a:solidFill>
                <a:latin typeface="Aptos"/>
              </a:rPr>
              <a:t>3/4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1463040"/>
          </a:xfrm>
          <a:prstGeom prst="roundRect">
            <a:avLst/>
          </a:prstGeom>
          <a:solidFill>
            <a:srgbClr val="EFF6F9"/>
          </a:solidFill>
          <a:ln>
            <a:solidFill>
              <a:srgbClr val="DA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44752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409BA4"/>
                </a:solidFill>
                <a:latin typeface="Aptos"/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996696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18304D"/>
                </a:solidFill>
                <a:latin typeface="Aptos"/>
              </a:rPr>
              <a:t>How do the prices of different brands of 1.5-litre bottled water compare online in Malaysia?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48463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1">
                <a:solidFill>
                  <a:srgbClr val="18304D"/>
                </a:solidFill>
                <a:latin typeface="Aptos"/>
              </a:rPr>
              <a:t>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858768"/>
            <a:ext cx="118872" cy="118872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749039"/>
            <a:ext cx="9875519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27333D"/>
                </a:solidFill>
                <a:latin typeface="Aptos"/>
              </a:rPr>
              <a:t>Collect listed prices for 1.5-litre bottled water.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517136"/>
            <a:ext cx="118872" cy="118872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407407"/>
            <a:ext cx="9875519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27333D"/>
                </a:solidFill>
                <a:latin typeface="Aptos"/>
              </a:rPr>
              <a:t>Organize the prices in a simple data table.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175503"/>
            <a:ext cx="118872" cy="118872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065775"/>
            <a:ext cx="9875519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27333D"/>
                </a:solidFill>
                <a:latin typeface="Aptos"/>
              </a:rPr>
              <a:t>Compare prices using basic statistical summaries and graphs.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700" b="1">
                <a:solidFill>
                  <a:srgbClr val="18304D"/>
                </a:solidFill>
                <a:latin typeface="Aptos"/>
              </a:rPr>
              <a:t>3. Data Collection and Planned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0">
                <a:solidFill>
                  <a:srgbClr val="64737D"/>
                </a:solidFill>
                <a:latin typeface="Aptos"/>
              </a:rPr>
              <a:t>4/4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12080" cy="4480560"/>
          </a:xfrm>
          <a:prstGeom prst="roundRect">
            <a:avLst/>
          </a:prstGeom>
          <a:solidFill>
            <a:srgbClr val="EFF6F9"/>
          </a:solidFill>
          <a:ln>
            <a:solidFill>
              <a:srgbClr val="DA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212080" cy="4480560"/>
          </a:xfrm>
          <a:prstGeom prst="roundRect">
            <a:avLst/>
          </a:prstGeom>
          <a:solidFill>
            <a:srgbClr val="EFF6F9"/>
          </a:solidFill>
          <a:ln>
            <a:solidFill>
              <a:srgbClr val="DA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1">
                <a:solidFill>
                  <a:srgbClr val="2F71A6"/>
                </a:solidFill>
                <a:latin typeface="Aptos"/>
              </a:rPr>
              <a:t>Data Collection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212848"/>
            <a:ext cx="118872" cy="118872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103120"/>
            <a:ext cx="42519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7333D"/>
                </a:solidFill>
                <a:latin typeface="Aptos"/>
              </a:rPr>
              <a:t>Source: online store listings in Malaysia.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962656"/>
            <a:ext cx="118872" cy="118872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2852927"/>
            <a:ext cx="42519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7333D"/>
                </a:solidFill>
                <a:latin typeface="Aptos"/>
              </a:rPr>
              <a:t>Record brand, product volume, price, store, and access date.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712463"/>
            <a:ext cx="118872" cy="118872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3602735"/>
            <a:ext cx="42519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7333D"/>
                </a:solidFill>
                <a:latin typeface="Aptos"/>
              </a:rPr>
              <a:t>Include only 1.5-litre bottles with a clearly listed individual-bottle price.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462272"/>
            <a:ext cx="118872" cy="118872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352544"/>
            <a:ext cx="42519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7333D"/>
                </a:solidFill>
                <a:latin typeface="Aptos"/>
              </a:rPr>
              <a:t>Use verified listed prices; no invented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508760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1">
                <a:solidFill>
                  <a:srgbClr val="409BA4"/>
                </a:solidFill>
                <a:latin typeface="Aptos"/>
              </a:rPr>
              <a:t>Planned Analysis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212848"/>
            <a:ext cx="118872" cy="118872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42519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7333D"/>
                </a:solidFill>
                <a:latin typeface="Aptos"/>
              </a:rPr>
              <a:t>Create a table of collected prices.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2962656"/>
            <a:ext cx="118872" cy="118872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2852927"/>
            <a:ext cx="42519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7333D"/>
                </a:solidFill>
                <a:latin typeface="Aptos"/>
              </a:rPr>
              <a:t>Calculate the mean, median, minimum, and maximum.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712463"/>
            <a:ext cx="118872" cy="118872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3602735"/>
            <a:ext cx="42519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7333D"/>
                </a:solidFill>
                <a:latin typeface="Aptos"/>
              </a:rPr>
              <a:t>Use a suitable chart to show price differences.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4462272"/>
            <a:ext cx="118872" cy="118872"/>
          </a:xfrm>
          <a:prstGeom prst="ellipse">
            <a:avLst/>
          </a:prstGeom>
          <a:solidFill>
            <a:srgbClr val="40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4352544"/>
            <a:ext cx="42519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7333D"/>
                </a:solidFill>
                <a:latin typeface="Aptos"/>
              </a:rPr>
              <a:t>Describe what the data shows, without making claims about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240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radwan ali</dc:creator>
  <cp:keywords/>
  <dc:description>generated using python-pptx</dc:description>
  <cp:lastModifiedBy>radwan ali</cp:lastModifiedBy>
  <cp:revision>2</cp:revision>
  <dcterms:created xsi:type="dcterms:W3CDTF">2013-01-27T09:14:16Z</dcterms:created>
  <dcterms:modified xsi:type="dcterms:W3CDTF">2026-10-19T00:46:11Z</dcterms:modified>
  <cp:category/>
</cp:coreProperties>
</file>